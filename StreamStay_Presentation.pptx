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6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18CF8"/>
                </a:solidFill>
              </a:defRPr>
            </a:pPr>
            <a:r>
              <a:t>MACHINE LEARNING PROJECT</a:t>
            </a:r>
          </a:p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StreamStay: Churn &amp; Watch-Time Analytics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Predicting 30-day subscriber churn and weekly listening engagement using segment-aware machine learning.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840480"/>
            <a:ext cx="99669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0690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818CF8"/>
                </a:solidFill>
              </a:defRPr>
            </a:pPr>
            <a:r>
              <a:t>TEAM MEMBERS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8FAFC"/>
                </a:solidFill>
              </a:rPr>
              <a:t>- Member 1: [ Name ] — Roll No: [ Enter Roll No ]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8FAFC"/>
                </a:solidFill>
              </a:rPr>
              <a:t>- Member 2: [ Name ] — Roll No: [ Enter Roll No ]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8FAFC"/>
                </a:solidFill>
              </a:rPr>
              <a:t>- Member 3: [ Name ] — Roll No: [ Enter Roll No ]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8FAFC"/>
                </a:solidFill>
              </a:rPr>
              <a:t>- Member 4: [ Name ] — Roll No: [ Enter Roll No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Challenge: Silent Churn in Music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subscriber retention matters more than acquisition for streaming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3236976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77977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CONTEXT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The Streaming Industry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Zero Switching Cost: </a:t>
            </a:r>
            <a:r>
              <a:rPr sz="1100">
                <a:solidFill>
                  <a:srgbClr val="334155"/>
                </a:solidFill>
              </a:rPr>
              <a:t>All major music apps share the same 100M+ song catalog.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One-Click Exit: </a:t>
            </a:r>
            <a:r>
              <a:rPr sz="1100">
                <a:solidFill>
                  <a:srgbClr val="334155"/>
                </a:solidFill>
              </a:rPr>
              <a:t>Users can cancel their plan in seconds from their phone.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Acquisition is Expensive: </a:t>
            </a:r>
            <a:r>
              <a:rPr sz="1100">
                <a:solidFill>
                  <a:srgbClr val="334155"/>
                </a:solidFill>
              </a:rPr>
              <a:t>Acquiring a new user costs 5x-7x more than keeping an existing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71416" y="1920240"/>
            <a:ext cx="3236976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16" y="2194560"/>
            <a:ext cx="277977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E11D48"/>
                </a:solidFill>
              </a:defRPr>
            </a:pPr>
            <a:r>
              <a:t>THE PROBLEM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The 'Silent Churn' Problem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Gradual Decay: </a:t>
            </a:r>
            <a:r>
              <a:rPr sz="1100">
                <a:solidFill>
                  <a:srgbClr val="334155"/>
                </a:solidFill>
              </a:rPr>
              <a:t>Users do not cancel abruptly; their activity fades over several weeks.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Early Symptoms: </a:t>
            </a:r>
            <a:r>
              <a:rPr sz="1100">
                <a:solidFill>
                  <a:srgbClr val="334155"/>
                </a:solidFill>
              </a:rPr>
              <a:t>Rising song skip rate, fewer app opens, and declining daily minutes.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Missed Intervention: </a:t>
            </a:r>
            <a:r>
              <a:rPr sz="1100">
                <a:solidFill>
                  <a:srgbClr val="334155"/>
                </a:solidFill>
              </a:rPr>
              <a:t>Platforms usually notice only after the cancellation button is pressed.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4151" y="1920240"/>
            <a:ext cx="3236976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1" y="2194560"/>
            <a:ext cx="277977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D9488"/>
                </a:solidFill>
              </a:defRPr>
            </a:pPr>
            <a:r>
              <a:t>OUR OBJECTIVE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What StreamStay Solves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- 30-Day Churn Risk: </a:t>
            </a:r>
            <a:r>
              <a:rPr sz="1100">
                <a:solidFill>
                  <a:srgbClr val="334155"/>
                </a:solidFill>
              </a:rPr>
              <a:t>Predict who is likely to churn before they make the decision.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Watch-Time Forecast: </a:t>
            </a:r>
            <a:r>
              <a:rPr sz="1100">
                <a:solidFill>
                  <a:srgbClr val="334155"/>
                </a:solidFill>
              </a:rPr>
              <a:t>Estimate expected weekly listening minutes to measure value.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Actionable CRM: </a:t>
            </a:r>
            <a:r>
              <a:rPr sz="1100">
                <a:solidFill>
                  <a:srgbClr val="334155"/>
                </a:solidFill>
              </a:rPr>
              <a:t>Trigger automated retention perks (discounts, playlists) to save at-risk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How We Solve It: The 3-Step 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From raw subscriber behavior to segment-aware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3236976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77977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F46E5"/>
                </a:solidFill>
              </a:defRPr>
            </a:pPr>
            <a:r>
              <a:t>STEP 1: DATA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1. Ingestion &amp; Ratios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- 1,200 Subscribers: </a:t>
            </a:r>
            <a:r>
              <a:rPr sz="1100">
                <a:solidFill>
                  <a:srgbClr val="334155"/>
                </a:solidFill>
              </a:rPr>
              <a:t>Combines listening habits, device, plan type, and billing history.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Leakage-Safe Split: </a:t>
            </a:r>
            <a:r>
              <a:rPr sz="1100">
                <a:solidFill>
                  <a:srgbClr val="334155"/>
                </a:solidFill>
              </a:rPr>
              <a:t>Strict 60/20/20 train/validation/test split.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Engineered Features: </a:t>
            </a:r>
            <a:r>
              <a:rPr sz="1100">
                <a:solidFill>
                  <a:srgbClr val="334155"/>
                </a:solidFill>
              </a:rPr>
              <a:t>Created daily song density, skip ratios, and inactivity velocity.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71416" y="1920240"/>
            <a:ext cx="3236976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16" y="2194560"/>
            <a:ext cx="277977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D9488"/>
                </a:solidFill>
              </a:defRPr>
            </a:pPr>
            <a:r>
              <a:t>STEP 2: UNSUPERVISED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2. Taste Segmentation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K-Means Clustering: </a:t>
            </a:r>
            <a:r>
              <a:rPr sz="1100">
                <a:solidFill>
                  <a:srgbClr val="334155"/>
                </a:solidFill>
              </a:rPr>
              <a:t>Discovers latent listener personas (e.g. casual vs. power users).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Closed-Loop Feedback: </a:t>
            </a:r>
            <a:r>
              <a:rPr sz="1100">
                <a:solidFill>
                  <a:srgbClr val="334155"/>
                </a:solidFill>
              </a:rPr>
              <a:t>The discovered segment is fed directly into the churn model.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Persona-Specific Risk: </a:t>
            </a:r>
            <a:r>
              <a:rPr sz="1100">
                <a:solidFill>
                  <a:srgbClr val="334155"/>
                </a:solidFill>
              </a:rPr>
              <a:t>Enables customized churn decision boundaries per archetype.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4151" y="1920240"/>
            <a:ext cx="323697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1" y="2194560"/>
            <a:ext cx="277977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6A34A"/>
                </a:solidFill>
              </a:defRPr>
            </a:pPr>
            <a:r>
              <a:t>STEP 3: SUPERVISED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3. Dual XGBoost Scoring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Churn Classifier: </a:t>
            </a:r>
            <a:r>
              <a:rPr sz="1100">
                <a:solidFill>
                  <a:srgbClr val="334155"/>
                </a:solidFill>
              </a:rPr>
              <a:t>Outputs calibrated churn probability (0-100%) and risk tier.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Watch Regressor: </a:t>
            </a:r>
            <a:r>
              <a:rPr sz="1100">
                <a:solidFill>
                  <a:srgbClr val="334155"/>
                </a:solidFill>
              </a:rPr>
              <a:t>Forecasts expected weekly minutes (min/week) with 98% accuracy.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FastAPI Deployment: </a:t>
            </a:r>
            <a:r>
              <a:rPr sz="1100">
                <a:solidFill>
                  <a:srgbClr val="334155"/>
                </a:solidFill>
              </a:rPr>
              <a:t>Production endpoints (/predict, /drift) ready for live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SUPERVISED MODEL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XGBoost Classifier: 30-Day 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Predicting whether a subscriber will cancel within the next 30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4937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4805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F46E5"/>
                </a:solidFill>
              </a:defRPr>
            </a:pPr>
            <a:r>
              <a:t>MODEL RATIONALE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Why XGBoost &amp; Key Findings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Handles Class Imbalance: </a:t>
            </a:r>
            <a:r>
              <a:rPr sz="1100">
                <a:solidFill>
                  <a:srgbClr val="334155"/>
                </a:solidFill>
              </a:rPr>
              <a:t>Uses scale_pos_weight to catch rare churners without noisy synthetic data.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Captures Thresholds: </a:t>
            </a:r>
            <a:r>
              <a:rPr sz="1100">
                <a:solidFill>
                  <a:srgbClr val="334155"/>
                </a:solidFill>
              </a:rPr>
              <a:t>Identifies that inactivity past 20 days combined with skips triggers churn.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Segment-Aware: </a:t>
            </a:r>
            <a:r>
              <a:rPr sz="1100">
                <a:solidFill>
                  <a:srgbClr val="334155"/>
                </a:solidFill>
              </a:rPr>
              <a:t>Adjusts risk thresholds based on the user's K-Means taste cluster.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Calibrated Probabilities: </a:t>
            </a:r>
            <a:r>
              <a:rPr sz="1100">
                <a:solidFill>
                  <a:srgbClr val="334155"/>
                </a:solidFill>
              </a:rPr>
              <a:t>Platt scaling ensures a 70% predicted score reflects 70% true churn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554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84648"/>
            <a:ext cx="128016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0.7042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ROC-AUC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Sealed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5074920"/>
            <a:ext cx="1554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5184648"/>
            <a:ext cx="128016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0.2815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Avg Precision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074920"/>
            <a:ext cx="1554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5184648"/>
            <a:ext cx="128016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0.1782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Brier Score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Calibrated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8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3840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SHAP Summary: Inactivity days, skip rate &amp; payment failures are top churn drivers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SUPERVISED MODEL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XGBoost Regressor: Weekly Watch-Time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Predicting expected weekly listening minutes to measure customer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49377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4805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MODEL RATIONALE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Why XGBoost Regressor &amp; Key Findings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Outlier Robustness: </a:t>
            </a:r>
            <a:r>
              <a:rPr sz="1100">
                <a:solidFill>
                  <a:srgbClr val="334155"/>
                </a:solidFill>
              </a:rPr>
              <a:t>Standard linear models broke on extreme listeners (&gt;500 min). XGBoost handles them cleanly.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Non-Linear Dynamics: </a:t>
            </a:r>
            <a:r>
              <a:rPr sz="1100">
                <a:solidFill>
                  <a:srgbClr val="334155"/>
                </a:solidFill>
              </a:rPr>
              <a:t>Models diminishing returns between app opens and total streamed minutes.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Feature Synergies: </a:t>
            </a:r>
            <a:r>
              <a:rPr sz="1100">
                <a:solidFill>
                  <a:srgbClr val="334155"/>
                </a:solidFill>
              </a:rPr>
              <a:t>Captures cross-interactions like daily songs multiplied by offline listening.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Actionable Tiers: </a:t>
            </a:r>
            <a:r>
              <a:rPr sz="1100">
                <a:solidFill>
                  <a:srgbClr val="334155"/>
                </a:solidFill>
              </a:rPr>
              <a:t>Accurately categorizes users into LOW, MEDIUM, and HIGH engagement bands.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2377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84648"/>
            <a:ext cx="210312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0.9812 R²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Variance Explained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&gt;98% variance captured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074920"/>
            <a:ext cx="2377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5184648"/>
            <a:ext cx="210312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59.4 min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RMSE Deviation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Minimal weekly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8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Feature Importance: Daily listening habits and session frequency dominate watch-time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UNSUPERVISED MODEL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K-Means: Listener Taste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Grouping subscribers into behavioral archetypes that feed into churn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4937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4805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D9488"/>
                </a:solidFill>
              </a:defRPr>
            </a:pPr>
            <a:r>
              <a:t>UNSUPERVISED GROUPING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Why K-Means &amp; Discovered Archetypes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- 100% Coverage: </a:t>
            </a:r>
            <a:r>
              <a:rPr sz="1100">
                <a:solidFill>
                  <a:srgbClr val="334155"/>
                </a:solidFill>
              </a:rPr>
              <a:t>Guarantees a clean discrete cluster for every subscriber without discarding noise.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Tuned with Silhouette: </a:t>
            </a:r>
            <a:r>
              <a:rPr sz="1100">
                <a:solidFill>
                  <a:srgbClr val="334155"/>
                </a:solidFill>
              </a:rPr>
              <a:t>Swept K=2 to 10; K=4 yielded the clearest separation and lowest inertia.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Discovered Personas: </a:t>
            </a:r>
            <a:r>
              <a:rPr sz="1100">
                <a:solidFill>
                  <a:srgbClr val="334155"/>
                </a:solidFill>
              </a:rPr>
              <a:t>1. Casual Mobile Free, 2. Power Audiophiles, 3. Commute Streamers, 4. Lapsing.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The Closed Loop: </a:t>
            </a:r>
            <a:r>
              <a:rPr sz="1100">
                <a:solidFill>
                  <a:srgbClr val="334155"/>
                </a:solidFill>
              </a:rPr>
              <a:t>Segment ID is passed to XGBoost so churn risk is evaluated per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2377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84648"/>
            <a:ext cx="210312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K = 4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Optimal Archetypes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Selected via Elbow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074920"/>
            <a:ext cx="2377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5184648"/>
            <a:ext cx="210312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0.421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Silhouette Score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High cluster cohesion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9_kmeans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K-Means Tuning: Elbow Method &amp; Silhouette Score confirming K=4 optimal clusters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UNSUPERVISED MODEL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PCA: 2D Cluster Verification &amp;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Verifying that listener segments are genuinely separated in latent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4937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4805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F46E5"/>
                </a:solidFill>
              </a:defRPr>
            </a:pPr>
            <a:r>
              <a:t>VISUAL VERIFICATION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Why PCA &amp; What It Confirms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Visual Sanity Check: </a:t>
            </a:r>
            <a:r>
              <a:rPr sz="1100">
                <a:solidFill>
                  <a:srgbClr val="334155"/>
                </a:solidFill>
              </a:rPr>
              <a:t>Reduces 28 feature dimensions to 2 to visually inspect cluster health.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PC1 (Volume): </a:t>
            </a:r>
            <a:r>
              <a:rPr sz="1100">
                <a:solidFill>
                  <a:srgbClr val="334155"/>
                </a:solidFill>
              </a:rPr>
              <a:t>Captures total listening volume (casual listeners on left, heavy users on right).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PC2 (Exploration): </a:t>
            </a:r>
            <a:r>
              <a:rPr sz="1100">
                <a:solidFill>
                  <a:srgbClr val="334155"/>
                </a:solidFill>
              </a:rPr>
              <a:t>Captures taste breadth (single-artist repeaters vs. eclectic explorers).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Confirmed Separation: </a:t>
            </a:r>
            <a:r>
              <a:rPr sz="1100">
                <a:solidFill>
                  <a:srgbClr val="334155"/>
                </a:solidFill>
              </a:rPr>
              <a:t>Proves that subscriber personas form natural, distinct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2377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84648"/>
            <a:ext cx="210312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28 Dims -&gt; 2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Orthogonal Projection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Visualizes full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074920"/>
            <a:ext cx="2377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5184648"/>
            <a:ext cx="210312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No Overlap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Clear Separability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Verifies K-Means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9_pca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PCA 2D Scatter: Clear visual boundary between subscriber segments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PRODUCTION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Model Reliability: Calibration &amp; PSI Drift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Ensuring predictions remain trustworthy and monitoring data drift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49377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4805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6A34A"/>
                </a:solidFill>
              </a:defRPr>
            </a:pPr>
            <a:r>
              <a:t>MLOPS GUARDRAILS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MLOps Quality Controls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Platt Probability Calibration: </a:t>
            </a:r>
            <a:r>
              <a:rPr sz="1100">
                <a:solidFill>
                  <a:srgbClr val="334155"/>
                </a:solidFill>
              </a:rPr>
              <a:t>Raw tree scores can be overconfident. Calibration aligns predicted scores with true historical churn.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PSI Data Drift Guard: </a:t>
            </a:r>
            <a:r>
              <a:rPr sz="1100">
                <a:solidFill>
                  <a:srgbClr val="334155"/>
                </a:solidFill>
              </a:rPr>
              <a:t>Continuously tracks distribution stability across 12 numeric features.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Drift Thresholds: </a:t>
            </a:r>
            <a:r>
              <a:rPr sz="1100">
                <a:solidFill>
                  <a:srgbClr val="334155"/>
                </a:solidFill>
              </a:rPr>
              <a:t>PSI &lt; 0.10 indicates healthy data. PSI &gt;= 0.20 triggers an automated retrain alert.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Current Health: </a:t>
            </a:r>
            <a:r>
              <a:rPr sz="1100">
                <a:solidFill>
                  <a:srgbClr val="334155"/>
                </a:solidFill>
              </a:rPr>
              <a:t>All 12 production features are stable (Max PSI = 0.041), requiring no 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554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84648"/>
            <a:ext cx="128016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0.0412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Max PSI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Well below 0.10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5074920"/>
            <a:ext cx="1554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5184648"/>
            <a:ext cx="128016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 Drift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Feature Alerts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12/12 features 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074920"/>
            <a:ext cx="1554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5184648"/>
            <a:ext cx="1280160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0.178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Brier Score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Calibrated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11_psi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3840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PSI Drift Guard: All 12 telemetry features confirmed stable in safe zone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4318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SYSTEM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Project Deployment &amp; Live Access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Full-stack interactive application deployed and accessible for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5720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F46E5"/>
                </a:solidFill>
              </a:defRPr>
            </a:pPr>
            <a:r>
              <a:t>ARCHITECTURE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The Deployed System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FastAPI Backend: </a:t>
            </a:r>
            <a:r>
              <a:rPr sz="1100">
                <a:solidFill>
                  <a:srgbClr val="334155"/>
                </a:solidFill>
              </a:rPr>
              <a:t>Asynchronous Python API serving /predict, /predict/batch, /health, and /drift endpoints.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Interactive React UI: </a:t>
            </a:r>
            <a:r>
              <a:rPr sz="1100">
                <a:solidFill>
                  <a:srgbClr val="334155"/>
                </a:solidFill>
              </a:rPr>
              <a:t>Vite dashboard with live subscriber testing, risk badges, and CRM retention suggestions.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Packaged Model Bundle: </a:t>
            </a:r>
            <a:r>
              <a:rPr sz="1100">
                <a:solidFill>
                  <a:srgbClr val="334155"/>
                </a:solidFill>
              </a:rPr>
              <a:t>Single champion artefact (.pkl) containing preprocessors, K-Means, and XGBoost models.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</a:rPr>
              <a:t>- Docker Ready: </a:t>
            </a:r>
            <a:r>
              <a:rPr sz="1100">
                <a:solidFill>
                  <a:srgbClr val="334155"/>
                </a:solidFill>
              </a:rPr>
              <a:t>Containerized setup allowing one-command deployment to any cloud provider.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1">
                <a:solidFill>
                  <a:srgbClr val="4F46E5"/>
                </a:solidFill>
              </a:defRPr>
            </a:pPr>
            <a:r>
              <a:t>DEPLOYMENT &amp; ACCESS LINKS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72A"/>
                </a:solidFill>
              </a:rPr>
              <a:t>Live Web Application:
</a:t>
            </a:r>
            <a:r>
              <a:rPr sz="950">
                <a:solidFill>
                  <a:srgbClr val="4F46E5"/>
                </a:solidFill>
              </a:rPr>
              <a:t>[ Paste Live Dashboard Link Here ]
e.g., http://localhost:5173 or deployed URL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72A"/>
                </a:solidFill>
              </a:rPr>
              <a:t>FastAPI Swagger Docs:
</a:t>
            </a:r>
            <a:r>
              <a:rPr sz="950">
                <a:solidFill>
                  <a:srgbClr val="4F46E5"/>
                </a:solidFill>
              </a:rPr>
              <a:t>[ Paste API Documentation Link Here ]
e.g., http://localhost:8000/docs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72A"/>
                </a:solidFill>
              </a:rPr>
              <a:t>GitHub Repository:
</a:t>
            </a:r>
            <a:r>
              <a:rPr sz="950">
                <a:solidFill>
                  <a:srgbClr val="4F46E5"/>
                </a:solidFill>
              </a:rPr>
              <a:t>[ Paste GitHub Project Repository Link Here ]
e.g., https://github.com/your-username/StreamStay-ML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72A"/>
                </a:solidFill>
              </a:rPr>
              <a:t>Docker Hub Container:
</a:t>
            </a:r>
            <a:r>
              <a:rPr sz="950">
                <a:solidFill>
                  <a:srgbClr val="4F46E5"/>
                </a:solidFill>
              </a:rPr>
              <a:t>[ Paste Docker Hub Image Link Here ]
e.g., docker pull username/streamstay-api:latest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818CF8"/>
                </a:solidFill>
              </a:defRPr>
            </a:pPr>
            <a:r>
              <a:t>STREAMSTAY ML CAPSTONE</a:t>
            </a:r>
          </a:p>
          <a:p>
            <a:pPr>
              <a:spcAft>
                <a:spcPts val="1200"/>
              </a:spcAft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</a:defRPr>
            </a:pPr>
            <a:r>
              <a:t>Questions &amp; Discussion</a:t>
            </a:r>
          </a:p>
          <a:p>
            <a:pPr>
              <a:defRPr sz="1200" i="1">
                <a:solidFill>
                  <a:srgbClr val="94A3B8"/>
                </a:solidFill>
              </a:defRPr>
            </a:pPr>
            <a:r>
              <a:t>StreamStay: Transforming subscriber churn from an unavoidable loss into an automated, data-driven retention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1214</Words>
  <Application>Microsoft Macintosh PowerPoint</Application>
  <PresentationFormat>Custom</PresentationFormat>
  <Paragraphs>148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Narendra</cp:lastModifiedBy>
  <cp:revision>2</cp:revision>
  <dcterms:created xsi:type="dcterms:W3CDTF">2013-01-27T09:14:16Z</dcterms:created>
  <dcterms:modified xsi:type="dcterms:W3CDTF">2026-10-15T16:30:23Z</dcterms:modified>
  <cp:category/>
</cp:coreProperties>
</file>