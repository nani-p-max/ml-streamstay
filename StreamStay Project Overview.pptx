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6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8CF8"/>
                </a:solidFill>
              </a:defRPr>
            </a:pPr>
            <a:r>
              <a:t>STREAMSTAY MACHINE LEARNING CAPSTONE</a:t>
            </a:r>
          </a:p>
          <a:p>
            <a:pPr>
              <a:spcAft>
                <a:spcPts val="1000"/>
              </a:spcAft>
              <a:defRPr sz="3400" b="1">
                <a:solidFill>
                  <a:srgbClr val="F8FAFC"/>
                </a:solidFill>
              </a:defRPr>
            </a:pPr>
            <a:r>
              <a:t>Subscriber Churn Prediction &amp; Time Analytics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production-grade machine learning system featuring segment-aware XGBoost classification, engagement watch-time regression, and automated MLOps drift guardrails.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818CF8"/>
                </a:solidFill>
              </a:defRPr>
            </a:pPr>
            <a:r>
              <a:t>PROJECT CONTRIBUTORS &amp; TEAM MEMBERS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</a:rPr>
              <a:t>• Team Member 1: </a:t>
            </a:r>
            <a:r>
              <a:rPr sz="1050">
                <a:solidFill>
                  <a:srgbClr val="94A3B8"/>
                </a:solidFill>
              </a:rPr>
              <a:t>Student Name — </a:t>
            </a:r>
            <a:r>
              <a:rPr sz="1050" smtClean="0">
                <a:solidFill>
                  <a:srgbClr val="94A3B8"/>
                </a:solidFill>
              </a:rPr>
              <a:t>Roll No: </a:t>
            </a:r>
            <a:endParaRPr sz="1050">
              <a:solidFill>
                <a:srgbClr val="94A3B8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</a:rPr>
              <a:t>• Team Member 2: </a:t>
            </a:r>
            <a:r>
              <a:rPr sz="1050">
                <a:solidFill>
                  <a:srgbClr val="94A3B8"/>
                </a:solidFill>
              </a:rPr>
              <a:t>Student Name — Roll No: </a:t>
            </a:r>
            <a:r>
              <a:rPr sz="1050" smtClean="0">
                <a:solidFill>
                  <a:srgbClr val="94A3B8"/>
                </a:solidFill>
              </a:rPr>
              <a:t> </a:t>
            </a:r>
            <a:endParaRPr sz="1050">
              <a:solidFill>
                <a:srgbClr val="94A3B8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</a:rPr>
              <a:t>• Team Member 3: </a:t>
            </a:r>
            <a:r>
              <a:rPr sz="1050">
                <a:solidFill>
                  <a:srgbClr val="94A3B8"/>
                </a:solidFill>
              </a:rPr>
              <a:t>Student Name — Roll No: </a:t>
            </a:r>
            <a:r>
              <a:rPr sz="1050" smtClean="0">
                <a:solidFill>
                  <a:srgbClr val="94A3B8"/>
                </a:solidFill>
              </a:rPr>
              <a:t> </a:t>
            </a:r>
            <a:endParaRPr sz="1050">
              <a:solidFill>
                <a:srgbClr val="94A3B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Department of Computer Science &amp; Engineering • Machine Learning Course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01 / CONTEXT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Streaming Retention Crisis &amp; Silent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Customer acquisition is vanity; retention is survival in subscription streaming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236976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871216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D97706"/>
                </a:solidFill>
              </a:defRPr>
            </a:pPr>
            <a:r>
              <a:t>MARKET CONTEXT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The Streaming Dilemma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Commoditized Catalogs: </a:t>
            </a:r>
            <a:r>
              <a:rPr sz="1050" b="0">
                <a:solidFill>
                  <a:srgbClr val="334155"/>
                </a:solidFill>
              </a:rPr>
              <a:t>Major streaming competitors share nearly identical 100M+ music tracks with zero switching friction.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One-Click Cancellation: </a:t>
            </a:r>
            <a:r>
              <a:rPr sz="1050" b="0">
                <a:solidFill>
                  <a:srgbClr val="334155"/>
                </a:solidFill>
              </a:rPr>
              <a:t>Subscribers can exit in 10 seconds via mobile app stores or payment settings at the end of any billing month.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The Treadmill Effect: </a:t>
            </a:r>
            <a:r>
              <a:rPr sz="1050" b="0">
                <a:solidFill>
                  <a:srgbClr val="334155"/>
                </a:solidFill>
              </a:rPr>
              <a:t>High churn forces marketing teams to spend aggressive customer acquisition budgets merely to keep net subscriber counts flat.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830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71416" y="1783080"/>
            <a:ext cx="3236976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984248"/>
            <a:ext cx="2871216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E11D48"/>
                </a:solidFill>
              </a:defRPr>
            </a:pPr>
            <a:r>
              <a:t>CORE PROBLEM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The 'Silent Churn' Phenomenon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Disengagement Precedes Exit: </a:t>
            </a:r>
            <a:r>
              <a:rPr sz="1050" b="0">
                <a:solidFill>
                  <a:srgbClr val="334155"/>
                </a:solidFill>
              </a:rPr>
              <a:t>Users do not wake up and cancel impulsively. Churn is the final step in a multi-week behavioral disengagement curve.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The Cost Asymmetry: </a:t>
            </a:r>
            <a:r>
              <a:rPr sz="1050" b="0">
                <a:solidFill>
                  <a:srgbClr val="334155"/>
                </a:solidFill>
              </a:rPr>
              <a:t>Acquiring a replacement subscriber costs 5x to 7x more than preserving an existing paying customer.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The Compounding Impact: </a:t>
            </a:r>
            <a:r>
              <a:rPr sz="1050" b="0">
                <a:solidFill>
                  <a:srgbClr val="334155"/>
                </a:solidFill>
              </a:rPr>
              <a:t>A mere 5% reduction in churn rate compounds to increase recurring subscription lifetime value (LTV) by 25% to 95%.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8308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65592" y="1783080"/>
            <a:ext cx="3236976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984248"/>
            <a:ext cx="2871216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</a:defRPr>
            </a:pPr>
            <a:r>
              <a:t>PROJECT GOALS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StreamStay ML Objectives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Objective 1: Churn Classification: </a:t>
            </a:r>
            <a:r>
              <a:rPr sz="1050" b="0">
                <a:solidFill>
                  <a:srgbClr val="334155"/>
                </a:solidFill>
              </a:rPr>
              <a:t>Predict binary churn_next_30_days with calibrated probabilities 30 days prior to subscription renewal.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Objective 2: Watch-Time Analytics: </a:t>
            </a:r>
            <a:r>
              <a:rPr sz="1050" b="0">
                <a:solidFill>
                  <a:srgbClr val="334155"/>
                </a:solidFill>
              </a:rPr>
              <a:t>Forecast continuous expected_weekly_listening_minutes to gauge customer lifetime value (LTV).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Objective 3: Closed-Loop Personalization: </a:t>
            </a:r>
            <a:r>
              <a:rPr sz="1050" b="0">
                <a:solidFill>
                  <a:srgbClr val="334155"/>
                </a:solidFill>
              </a:rPr>
              <a:t>Segment subscribers by taste to trigger targeted, high-ROI retention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02 / METHODOLOGY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End-to-End Pipeline with Closed-Loop Taste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From raw subscriber telemetry to leakage-safe feature engineering, segmentation, and calibrated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395728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02996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4F46E5"/>
                </a:solidFill>
              </a:defRPr>
            </a:pPr>
            <a:r>
              <a:t>STAGE W1–W2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Data &amp; Split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Dataset Profile: </a:t>
            </a:r>
            <a:r>
              <a:rPr sz="1050" b="0">
                <a:solidFill>
                  <a:srgbClr val="334155"/>
                </a:solidFill>
              </a:rPr>
              <a:t>1,200 real subscribers with 23 raw telemetry features (cadence, genre, skips, billing).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Leakage-Safe Partition: </a:t>
            </a:r>
            <a:r>
              <a:rPr sz="1050" b="0">
                <a:solidFill>
                  <a:srgbClr val="334155"/>
                </a:solidFill>
              </a:rPr>
              <a:t>Strict 60/20/20 train/validation/sealed-test stratified split.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Clean Preprocessing: </a:t>
            </a:r>
            <a:r>
              <a:rPr sz="1050" b="0">
                <a:solidFill>
                  <a:srgbClr val="334155"/>
                </a:solidFill>
              </a:rPr>
              <a:t>Scalers and encoders fit solely on train data to prevent any data leakage into validation/test.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783080"/>
            <a:ext cx="239572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984248"/>
            <a:ext cx="202996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D97706"/>
                </a:solidFill>
              </a:defRPr>
            </a:pPr>
            <a:r>
              <a:t>FEATURE ENGINEERING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Behavioral Features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Daily Song Density: </a:t>
            </a:r>
            <a:r>
              <a:rPr sz="1050" b="0">
                <a:solidFill>
                  <a:srgbClr val="334155"/>
                </a:solidFill>
              </a:rPr>
              <a:t>songs_per_day / daily_listening_minutes gauges listening intent.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Exploration Factor: </a:t>
            </a:r>
            <a:r>
              <a:rPr sz="1050" b="0">
                <a:solidFill>
                  <a:srgbClr val="334155"/>
                </a:solidFill>
              </a:rPr>
              <a:t>unique_artists_per_week relative to session frequency.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Skip Sensitivity: </a:t>
            </a:r>
            <a:r>
              <a:rPr sz="1050" b="0">
                <a:solidFill>
                  <a:srgbClr val="334155"/>
                </a:solidFill>
              </a:rPr>
              <a:t>skip_rate_pct ratio against recommendation satisfaction score.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Inactivity Velocity: </a:t>
            </a:r>
            <a:r>
              <a:rPr sz="1050" b="0">
                <a:solidFill>
                  <a:srgbClr val="334155"/>
                </a:solidFill>
              </a:rPr>
              <a:t>days_since_last_active exponential recency decay.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487168" cy="4572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239572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202996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</a:defRPr>
            </a:pPr>
            <a:r>
              <a:t>CORE INNOVATION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Closed-Loop Feedback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Unsupervised K-Means: </a:t>
            </a:r>
            <a:r>
              <a:rPr sz="1050" b="0">
                <a:solidFill>
                  <a:srgbClr val="334155"/>
                </a:solidFill>
              </a:rPr>
              <a:t>Discovers latent subscriber personas (casual, power, lapsed, eclectic).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Feature Feedback Loop: </a:t>
            </a:r>
            <a:r>
              <a:rPr sz="1050" b="0">
                <a:solidFill>
                  <a:srgbClr val="334155"/>
                </a:solidFill>
              </a:rPr>
              <a:t>The assigned taste_segment is dynamically appended back to the feature matrix.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Segment-Aware Churn: </a:t>
            </a:r>
            <a:r>
              <a:rPr sz="1050" b="0">
                <a:solidFill>
                  <a:srgbClr val="334155"/>
                </a:solidFill>
              </a:rPr>
              <a:t>Enables the churn classifier to learn customized risk thresholds per archetype.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83080"/>
            <a:ext cx="2487168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1783080"/>
            <a:ext cx="2395728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1984248"/>
            <a:ext cx="202996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16A34A"/>
                </a:solidFill>
              </a:defRPr>
            </a:pPr>
            <a:r>
              <a:t>DEPLOYMENT &amp; MLOPS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4. Calibrated MLOps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Dual XGBoost Champions: </a:t>
            </a:r>
            <a:r>
              <a:rPr sz="1050" b="0">
                <a:solidFill>
                  <a:srgbClr val="334155"/>
                </a:solidFill>
              </a:rPr>
              <a:t>Specialized models for Churn Classification &amp; Watch-Time Regression.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Probability Calibration: </a:t>
            </a:r>
            <a:r>
              <a:rPr sz="1050" b="0">
                <a:solidFill>
                  <a:srgbClr val="334155"/>
                </a:solidFill>
              </a:rPr>
              <a:t>Platt scaling aligns raw model scores with true empirical churn rates.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PSI Drift Monitoring: </a:t>
            </a:r>
            <a:r>
              <a:rPr sz="1050" b="0">
                <a:solidFill>
                  <a:srgbClr val="334155"/>
                </a:solidFill>
              </a:rPr>
              <a:t>Continuous telemetry guard ensures deployed models remain stable in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03 / SUPERVISED CHAMPION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XGBoost Churn Classifier: Segment-Aware Risk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Predicting 30-day binary churn probability with calibrated decision boundaries and tree explainability.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63440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4F46E5"/>
                </a:solidFill>
              </a:defRPr>
            </a:pPr>
            <a:r>
              <a:t>MODEL RATIONALE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XGBoost over Alternative Models?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Handles Severe Imbalance: </a:t>
            </a:r>
            <a:r>
              <a:rPr sz="1050" b="0">
                <a:solidFill>
                  <a:srgbClr val="334155"/>
                </a:solidFill>
              </a:rPr>
              <a:t>Uses scale_pos_weight = N_neg / N_pos to penalize missed churners without artificial synthetic oversampling noise.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Captures Complex Interactions: </a:t>
            </a:r>
            <a:r>
              <a:rPr sz="1050" b="0">
                <a:solidFill>
                  <a:srgbClr val="334155"/>
                </a:solidFill>
              </a:rPr>
              <a:t>Learns non-linear synergy (e.g., high skip rate is benign unless paired with declining daily minutes and payment failures).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Sequential Boosting &amp; Early Stopping: </a:t>
            </a:r>
            <a:r>
              <a:rPr sz="1050" b="0">
                <a:solidFill>
                  <a:srgbClr val="334155"/>
                </a:solidFill>
              </a:rPr>
              <a:t>Trees sequentially correct residual errors, capped with early stopping (rounds=50) to prevent overfitting.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Closed Feedback Integration: </a:t>
            </a:r>
            <a:r>
              <a:rPr sz="1050" b="0">
                <a:solidFill>
                  <a:srgbClr val="334155"/>
                </a:solidFill>
              </a:rPr>
              <a:t>Trained on preprocessor_seg (includes taste_segment from K-Means), adapting risk thresholds by music taste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1887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76088"/>
            <a:ext cx="9144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ROC-AUC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0.7042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Sealed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166360"/>
            <a:ext cx="11887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5276088"/>
            <a:ext cx="9144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PR-AUC (AP)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0.2815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Precision-Recall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166360"/>
            <a:ext cx="11887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5276088"/>
            <a:ext cx="9144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F1-SCORE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0.2644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Optimal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166360"/>
            <a:ext cx="128016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5276088"/>
            <a:ext cx="100584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BRIER SCORE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0.1782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Platt Calibrated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7830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8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56232"/>
            <a:ext cx="5248656" cy="41330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8192" y="6062472"/>
            <a:ext cx="524865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SHAP TreeExplainer: Feature Impact on Churn Risk (days_since_last_active &amp; skips dominate)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04 / SUPERVISED CHAMPION (REGRESSION)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XGBoost Watch-Time Regressor: Engagement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Forecasting continuous weekly listening minutes to drive Customer Lifetime Value (LTV) and engagement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29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63440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D97706"/>
                </a:solidFill>
              </a:defRPr>
            </a:pPr>
            <a:r>
              <a:t>MODEL RATIONALE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XGBoost Regressor over OLS / Baselines?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Outlier Robustness: </a:t>
            </a:r>
            <a:r>
              <a:rPr sz="1050" b="0">
                <a:solidFill>
                  <a:srgbClr val="334155"/>
                </a:solidFill>
              </a:rPr>
              <a:t>Linear regression (OLS) distorted severely due to heavy-listener right-tail outliers (&gt;500 min/week). XGBoost's depth limits prevent outlier distortion.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Non-Linear Engagement Plateauing: </a:t>
            </a:r>
            <a:r>
              <a:rPr sz="1050" b="0">
                <a:solidFill>
                  <a:srgbClr val="334155"/>
                </a:solidFill>
              </a:rPr>
              <a:t>Models realistic diminishing returns between app opens and total streamed minutes that linear models cannot express.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Cross-Feature Synergies: </a:t>
            </a:r>
            <a:r>
              <a:rPr sz="1050" b="0">
                <a:solidFill>
                  <a:srgbClr val="334155"/>
                </a:solidFill>
              </a:rPr>
              <a:t>Captures multiplicative interactions (e.g., songs_per_day × offline_usage_pct × session_duration).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Unified Production Pipeline: </a:t>
            </a:r>
            <a:r>
              <a:rPr sz="1050" b="0">
                <a:solidFill>
                  <a:srgbClr val="334155"/>
                </a:solidFill>
              </a:rPr>
              <a:t>Shares the identical preprocessing pipeline (preprocessor_e), simplifying deployment and inference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5544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R² SCORE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0.9812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&gt;98% Variance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5166360"/>
            <a:ext cx="15544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TEST RMSE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59.42 min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Weekly deviation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166360"/>
            <a:ext cx="16459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5276088"/>
            <a:ext cx="1371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TIER ACCURACY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94.2%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LOW / MED / HIGH bands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8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56232"/>
            <a:ext cx="5248656" cy="41330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192" y="6062472"/>
            <a:ext cx="524865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Global SHAP Feature Importance: Daily listening minutes and session frequency drive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05 / UNSUPERVISED DISCOVERY &amp; FEATURE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K-Means Clustering: Discovering Latent Listener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Unsupervised behavioral segmentation that feeds directly into the supervised churn classifier.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29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63440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</a:defRPr>
            </a:pPr>
            <a:r>
              <a:t>UNSUPERVISED ARCHITECTURE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K-Means &amp; How It Powers the Pipeline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Deterministic &amp; Fast: </a:t>
            </a:r>
            <a:r>
              <a:rPr sz="1050" b="0">
                <a:solidFill>
                  <a:srgbClr val="334155"/>
                </a:solidFill>
              </a:rPr>
              <a:t>Unlike density-based DBSCAN (which discards unclustered points as noise), K-Means guarantees discrete cluster assignments for 100% of subscribers.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Automatic Hyperparameter Tuning: </a:t>
            </a:r>
            <a:r>
              <a:rPr sz="1050" b="0">
                <a:solidFill>
                  <a:srgbClr val="334155"/>
                </a:solidFill>
              </a:rPr>
              <a:t>Swept K=2 to 10 evaluating Silhouette Scores and Elbow SSE inertia; selected optimal K=4 natural archetypes.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Discovered Personas: </a:t>
            </a:r>
            <a:r>
              <a:rPr sz="1050" b="0">
                <a:solidFill>
                  <a:srgbClr val="334155"/>
                </a:solidFill>
              </a:rPr>
              <a:t>1. Casual Mobile Free (high skips), 2. Power Audiophiles (broad genres, high offline usage), 3. Commute Streamers, 4. Dormant Lapsing.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The Feedback Connection: </a:t>
            </a:r>
            <a:r>
              <a:rPr sz="1050" b="0">
                <a:solidFill>
                  <a:srgbClr val="334155"/>
                </a:solidFill>
              </a:rPr>
              <a:t>Cluster IDs are dynamically fed as categorical features into XGBoost Churn Classifier, conditioning churn risk on user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55448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OPTIMAL K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K = 4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Discovered Archetypes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5166360"/>
            <a:ext cx="155448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SILHOUETTE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0.421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Cluster separability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166360"/>
            <a:ext cx="164592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5276088"/>
            <a:ext cx="1371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COVERAGE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100%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Zero noise discard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9_kmeans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56232"/>
            <a:ext cx="5248656" cy="41330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192" y="6062472"/>
            <a:ext cx="524865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K-Means Hyperparameter Tuning: Elbow Method (Inertia SSE) &amp; Silhouette Score across K=2 to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06 / UNSUPERVISED VISUAL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Principal Component Analysis: Latent Space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Projecting 28-dimensional standardized subscriber profiles into 2D space to verify cluster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29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63440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4F46E5"/>
                </a:solidFill>
              </a:defRPr>
            </a:pPr>
            <a:r>
              <a:t>DIMENSIONALITY REDUCTION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PCA &amp; What the Projection Verifies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Diagnostic Verification: </a:t>
            </a:r>
            <a:r>
              <a:rPr sz="1050" b="0">
                <a:solidFill>
                  <a:srgbClr val="334155"/>
                </a:solidFill>
              </a:rPr>
              <a:t>Acts as an independent sanity check: verifies whether K-Means segments form distinct, non-overlapping geometric neighborhoods or artificial splits.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PC1 (Engagement Volume): </a:t>
            </a:r>
            <a:r>
              <a:rPr sz="1050" b="0">
                <a:solidFill>
                  <a:srgbClr val="334155"/>
                </a:solidFill>
              </a:rPr>
              <a:t>Captures 41.2% of variance, spanning low-frequency ad-tier users on the left to heavy daily commuters and power users on the right.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PC2 (Catalog Exploration): </a:t>
            </a:r>
            <a:r>
              <a:rPr sz="1050" b="0">
                <a:solidFill>
                  <a:srgbClr val="334155"/>
                </a:solidFill>
              </a:rPr>
              <a:t>Captures 18.4% of variance, separating single-artist repeat listeners from broad catalog explorers.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Operational Guarantee: </a:t>
            </a:r>
            <a:r>
              <a:rPr sz="1050" b="0">
                <a:solidFill>
                  <a:srgbClr val="334155"/>
                </a:solidFill>
              </a:rPr>
              <a:t>Confirms that customer taste personas are statistically separated in feature space, validating the reliability of the segment feedback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55448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INPUT DIMS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28 Features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Scaled &amp; Encoded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5166360"/>
            <a:ext cx="155448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LATENT DIMS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2 Components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Orthogonal Projections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166360"/>
            <a:ext cx="164592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5276088"/>
            <a:ext cx="1371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SEPARABILITY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Distinct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Zero cluster collapse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9_pca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56232"/>
            <a:ext cx="5248656" cy="41330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192" y="6062472"/>
            <a:ext cx="524865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PCA 2D Projection: Clear geometric separation of subscriber segments across PC1 &amp; PC2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07 / MODEL COMPARISON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Architectural Decisions: Why Baselines Were Retired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Evaluating candidate models across stages and justifying our lean, high-performing 3-model production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F46E5"/>
                </a:solidFill>
              </a:defRPr>
            </a:pPr>
            <a:r>
              <a:t>EVALUATION OF CANDIDATE MODELS &amp; RETIREMENT JUSTIFICATION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OLS / SGD Regressor (Stage W3) [Linear Watch-Time Baseline]: </a:t>
            </a:r>
            <a:r>
              <a:rPr sz="1000">
                <a:solidFill>
                  <a:srgbClr val="334155"/>
                </a:solidFill>
              </a:rPr>
              <a:t>Too rigid; cannot capture non-linear engagement thresholds and was severely corrupted by heavy-listener outliers (&gt;500 min). Discarded in favor of XGBoost Regressor.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Ridge &amp; Lasso Regularization (Stage W4) [Linear Feature Selection]: </a:t>
            </a:r>
            <a:r>
              <a:rPr sz="1000">
                <a:solidFill>
                  <a:srgbClr val="334155"/>
                </a:solidFill>
              </a:rPr>
              <a:t>Tested L1/L2 penalties on linear coefficients; subsumed entirely by XGBoost's built-in reg_alpha and reg_lambda regularizers and tree pruning.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Logistic Regression (Stage W4/W5) [Linear Churn Baseline]: </a:t>
            </a:r>
            <a:r>
              <a:rPr sz="1000">
                <a:solidFill>
                  <a:srgbClr val="334155"/>
                </a:solidFill>
              </a:rPr>
              <a:t>Linear hyperplanes cannot capture multi-variable conditional churn triggers (e.g. high skips only cause churn when combined with payment failures). Yielded inferior ROC-AUC (0.612).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Single Decision Tree (Stage W6) [Rule-Based Interpretability]: </a:t>
            </a:r>
            <a:r>
              <a:rPr sz="1000">
                <a:solidFill>
                  <a:srgbClr val="334155"/>
                </a:solidFill>
              </a:rPr>
              <a:t>High variance, brittle decision splits, and severe overfitting on training data. Useful for exploratory heuristics but lacked generalizability.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Random Forest (Stage W7) [Bagged Ensemble]: </a:t>
            </a:r>
            <a:r>
              <a:rPr sz="1000">
                <a:solidFill>
                  <a:srgbClr val="334155"/>
                </a:solidFill>
              </a:rPr>
              <a:t>Strong performance (ROC-AUC ~0.67), but XGBoost's sequential gradient boosting and native scale_pos_weight delivered superior precision-recall and lower calibration error.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6A34A"/>
                </a:solidFill>
              </a:rPr>
              <a:t>Production Architecture Verdict: </a:t>
            </a:r>
            <a:r>
              <a:rPr sz="1050">
                <a:solidFill>
                  <a:srgbClr val="0F172A"/>
                </a:solidFill>
              </a:rPr>
              <a:t>A streamlined architecture consisting of Dual XGBoost Champions + K-Means Segment Feedback eliminates unnecessary model sprawl, speeds up inference latency, and maximizes predictive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08 / PRODUCTION ENGINEERING &amp;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Probability Calibration &amp; PSI Data Drift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Ensuring business confidence through calibrated risk probabilities and automated telemetry drift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29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63440" cy="2843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16A34A"/>
                </a:solidFill>
              </a:defRPr>
            </a:pPr>
            <a:r>
              <a:t>QUALITY ASSURANCE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MLOps Reliability &amp; Drift Architecture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Platt Probability Calibration: </a:t>
            </a:r>
            <a:r>
              <a:rPr sz="1050" b="0">
                <a:solidFill>
                  <a:srgbClr val="334155"/>
                </a:solidFill>
              </a:rPr>
              <a:t>Raw tree outputs can be overconfident. CalibratedClassifierCV ensures a predicted 70% risk strictly corresponds to a 70% empirical churn rate.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Population Stability Index (PSI): </a:t>
            </a:r>
            <a:r>
              <a:rPr sz="1050" b="0">
                <a:solidFill>
                  <a:srgbClr val="334155"/>
                </a:solidFill>
              </a:rPr>
              <a:t>Monitors distribution shifts across 12 numeric features against the sealed training baseline in real-time.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Operational Drift Thresholds: </a:t>
            </a:r>
            <a:r>
              <a:rPr sz="1050" b="0">
                <a:solidFill>
                  <a:srgbClr val="334155"/>
                </a:solidFill>
              </a:rPr>
              <a:t>PSI &lt; 0.10: Stable | 0.10 ≤ PSI &lt; 0.20: Monitor | PSI ≥ 0.20: Automated Retraining Trigger Alert.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Automated Health Protocol: </a:t>
            </a:r>
            <a:r>
              <a:rPr sz="1050" b="0">
                <a:solidFill>
                  <a:srgbClr val="334155"/>
                </a:solidFill>
              </a:rPr>
              <a:t>POST /retrain_trigger endpoint checks max observed PSI and initiates pipeline retraining if data drift exceeds safe operating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5544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MAX PSI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0.0412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All 12 Features 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5166360"/>
            <a:ext cx="15544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5276088"/>
            <a:ext cx="12801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DRIFT STATUS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0 Alerts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No Retrain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166360"/>
            <a:ext cx="16459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5276088"/>
            <a:ext cx="1371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CALIBRATION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Brier: 0.178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Reliable 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11_psi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56232"/>
            <a:ext cx="5248656" cy="41330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192" y="6062472"/>
            <a:ext cx="524865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PSI Drift Guard: All 12 telemetry features confirmed stable below 0.10 warning threshold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09 / SYSTEM DEPLOYMENT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Live Production Deployment &amp; Interactive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Production-grade FastAPI backend with a responsive React dashboard and interactive inference playground.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7550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0840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718304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4F46E5"/>
                </a:solidFill>
              </a:defRPr>
            </a:pPr>
            <a:r>
              <a:t>DEPLOYED STACK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Production Software Architecture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FastAPI Microservice: </a:t>
            </a:r>
            <a:r>
              <a:rPr sz="1050" b="0">
                <a:solidFill>
                  <a:srgbClr val="334155"/>
                </a:solidFill>
              </a:rPr>
              <a:t>High-performance asynchronous backend providing /predict, /predict/batch, /health, /metrics, /drift, and /retrain_trigger endpoints.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React + Vite Dashboard: </a:t>
            </a:r>
            <a:r>
              <a:rPr sz="1050" b="0">
                <a:solidFill>
                  <a:srgbClr val="334155"/>
                </a:solidFill>
              </a:rPr>
              <a:t>Real-time subscriber scoring playground with quick personas (At-Risk Lapsed, Loyal Audiophile, New Explorer), dynamic risk pills, and CRM action suggestions.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Self-Contained Artefact: </a:t>
            </a:r>
            <a:r>
              <a:rPr sz="1050" b="0">
                <a:solidFill>
                  <a:srgbClr val="334155"/>
                </a:solidFill>
              </a:rPr>
              <a:t>One versioned champion pickle bundle (models/streamstay_champion_v*.pkl) encapsulating all preprocessors, K-Means, and XGBoost models.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Containerized Architecture: </a:t>
            </a:r>
            <a:r>
              <a:rPr sz="1050" b="0">
                <a:solidFill>
                  <a:srgbClr val="334155"/>
                </a:solidFill>
              </a:rPr>
              <a:t>Dockerized deployment configured with automated multi-worker Uvicorn processes ready for cloud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83080"/>
            <a:ext cx="5175504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18504" y="1783080"/>
            <a:ext cx="50840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645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LIVE ACCESS &amp; PROJECT REPOSITORY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Live Deployment Links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Live Web Application:
</a:t>
            </a:r>
            <a:r>
              <a:rPr sz="950">
                <a:solidFill>
                  <a:srgbClr val="4F46E5"/>
                </a:solidFill>
              </a:rPr>
              <a:t>[ Add Deployed Dashboard Link Here ]
e.g., https://streamstay-ml.vercel.app or http://localhost:5173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FastAPI Swagger Docs:
</a:t>
            </a:r>
            <a:r>
              <a:rPr sz="950">
                <a:solidFill>
                  <a:srgbClr val="4F46E5"/>
                </a:solidFill>
              </a:rPr>
              <a:t>[ Add Live API Documentation URL Here ]
e.g., https://streamstay-api.onrender.com/docs or http://localhost:8000/docs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GitHub Code Repository:
</a:t>
            </a:r>
            <a:r>
              <a:rPr sz="950">
                <a:solidFill>
                  <a:srgbClr val="4F46E5"/>
                </a:solidFill>
              </a:rPr>
              <a:t>[ Add GitHub Project Repository Link Here ]
e.g., https://github.com/your-username/StreamStay-ML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</a:rPr>
              <a:t>• Docker Container Hub:
</a:t>
            </a:r>
            <a:r>
              <a:rPr sz="950">
                <a:solidFill>
                  <a:srgbClr val="4F46E5"/>
                </a:solidFill>
              </a:rPr>
              <a:t>[ Add Docker Hub Image Link Here ]
e.g., docker pull username/streamstay-api:latest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37160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818CF8"/>
                </a:solidFill>
              </a:defRPr>
            </a:pPr>
            <a:r>
              <a:t>STREAMSTAY CAPSTONE CONCLUSION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Questions, Feedback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18CF8"/>
                </a:solidFill>
              </a:defRPr>
            </a:pPr>
            <a:r>
              <a:t>KEY STRATEGIC TAKEAWAY</a:t>
            </a:r>
          </a:p>
          <a:p>
            <a:pPr>
              <a:spcAft>
                <a:spcPts val="1000"/>
              </a:spcAft>
              <a:defRPr sz="1200" i="1">
                <a:solidFill>
                  <a:srgbClr val="F8FAFC"/>
                </a:solidFill>
              </a:defRPr>
            </a:pPr>
            <a:r>
              <a:t>"StreamStay transforms subscriber retention from a reactive damage-control scramble into an automated, data-driven engineering discipline. By synthesizing unsupervised taste discovery with calibrated gradient boosting, streaming businesses can protect recurring revenue, eliminate marketing treadmill waste, and deliver personalized subscriber delight."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Presented by StreamStay Machine Learning Project Team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1865</Words>
  <Application>Microsoft Macintosh PowerPoint</Application>
  <PresentationFormat>Custom</PresentationFormat>
  <Paragraphs>179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Narendra</cp:lastModifiedBy>
  <cp:revision>2</cp:revision>
  <dcterms:created xsi:type="dcterms:W3CDTF">2013-01-27T09:14:16Z</dcterms:created>
  <dcterms:modified xsi:type="dcterms:W3CDTF">2026-10-15T16:24:12Z</dcterms:modified>
  <cp:category/>
</cp:coreProperties>
</file>